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15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h_brief_assets/truck_bg_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318">
              <a:alpha val="62000"/>
            </a:srgbClr>
          </a:solidFill>
          <a:ln w="12700">
            <a:solidFill>
              <a:srgbClr val="0B23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30352" y="658368"/>
            <a:ext cx="5440680" cy="5577840"/>
          </a:xfrm>
          <a:prstGeom prst="roundRect">
            <a:avLst>
              <a:gd name="adj" fmla="val 2521"/>
            </a:avLst>
          </a:prstGeom>
          <a:solidFill>
            <a:srgbClr val="123F2A">
              <a:alpha val="92000"/>
            </a:srgbClr>
          </a:solidFill>
          <a:ln w="12700">
            <a:solidFill>
              <a:srgbClr val="123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68096" y="877824"/>
            <a:ext cx="73152" cy="5138928"/>
          </a:xfrm>
          <a:prstGeom prst="rect">
            <a:avLst/>
          </a:prstGeom>
          <a:solidFill>
            <a:srgbClr val="E0B33F"/>
          </a:solidFill>
          <a:ln w="12700">
            <a:solidFill>
              <a:srgbClr val="E0B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51560" y="1078992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FreshHarvest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Logistics</a:t>
            </a:r>
            <a:endParaRPr lang="en-US" sz="4300" dirty="0"/>
          </a:p>
        </p:txBody>
      </p:sp>
      <p:sp>
        <p:nvSpPr>
          <p:cNvPr id="7" name="Text 4"/>
          <p:cNvSpPr/>
          <p:nvPr/>
        </p:nvSpPr>
        <p:spPr>
          <a:xfrm>
            <a:off x="1078992" y="2505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B33F"/>
                </a:solidFill>
              </a:rPr>
              <a:t>Opening Brief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8992" y="2999232"/>
            <a:ext cx="425196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AF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business intelligence project that connects daily fresh produce operations to clear management decisions.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78992" y="42793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D9EBD8"/>
                </a:solidFill>
              </a:rPr>
              <a:t>Built with SQL, a Data Warehouse and Power BI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78992" y="570585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DDEBDD"/>
                </a:solidFill>
              </a:rPr>
              <a:t>O Setshedi • TM Seepe • TH Motaung • FM </a:t>
            </a:r>
            <a:r>
              <a:rPr lang="en-US" sz="940" dirty="0" err="1">
                <a:solidFill>
                  <a:srgbClr val="DDEBDD"/>
                </a:solidFill>
              </a:rPr>
              <a:t>Folo</a:t>
            </a:r>
            <a:r>
              <a:rPr lang="en-US" sz="940" dirty="0">
                <a:solidFill>
                  <a:srgbClr val="DDEBDD"/>
                </a:solidFill>
              </a:rPr>
              <a:t> • DL Mpapha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h_brief_assets/produce_bg_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2">
              <a:alpha val="82000"/>
            </a:srgbClr>
          </a:solidFill>
          <a:ln w="12700">
            <a:solidFill>
              <a:srgbClr val="F6FA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F2A"/>
          </a:solidFill>
          <a:ln w="12700">
            <a:solidFill>
              <a:srgbClr val="123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12191695" cy="50292"/>
          </a:xfrm>
          <a:prstGeom prst="rect">
            <a:avLst/>
          </a:prstGeom>
          <a:solidFill>
            <a:srgbClr val="E0B33F"/>
          </a:solidFill>
          <a:ln w="12700">
            <a:solidFill>
              <a:srgbClr val="E0B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8288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FRESHHARVEST LOGISTICS  |  COMPANY BRIEF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53035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DCEBDD"/>
                </a:solidFill>
              </a:rPr>
              <a:t>The business context before the technical solution</a:t>
            </a:r>
            <a:endParaRPr lang="en-US" sz="820" dirty="0"/>
          </a:p>
        </p:txBody>
      </p:sp>
      <p:sp>
        <p:nvSpPr>
          <p:cNvPr id="8" name="Shape 5"/>
          <p:cNvSpPr/>
          <p:nvPr/>
        </p:nvSpPr>
        <p:spPr>
          <a:xfrm>
            <a:off x="658368" y="1170432"/>
            <a:ext cx="5532120" cy="5230368"/>
          </a:xfrm>
          <a:prstGeom prst="roundRect">
            <a:avLst>
              <a:gd name="adj" fmla="val 2622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20" y="14813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</a:rPr>
              <a:t>WHAT THE COMPANY DOES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960120" y="1719072"/>
            <a:ext cx="2377440" cy="50292"/>
          </a:xfrm>
          <a:prstGeom prst="rect">
            <a:avLst/>
          </a:prstGeom>
          <a:solidFill>
            <a:srgbClr val="E0B33F"/>
          </a:solidFill>
          <a:ln w="12700">
            <a:solidFill>
              <a:srgbClr val="E0B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60120" y="186537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23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Fresh produce movement from farms to markets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987552" y="2715768"/>
            <a:ext cx="468172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18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FreshHarvest Logistics is an agricultural logistics business. It supports the movement of fresh fruits, vegetables and herbs from suppliers and farms through storage, transport and delivery until they reach customers.</a:t>
            </a:r>
            <a:endParaRPr lang="en-US" sz="1510" dirty="0"/>
          </a:p>
        </p:txBody>
      </p:sp>
      <p:sp>
        <p:nvSpPr>
          <p:cNvPr id="13" name="Text 10"/>
          <p:cNvSpPr/>
          <p:nvPr/>
        </p:nvSpPr>
        <p:spPr>
          <a:xfrm>
            <a:off x="1078992" y="4041648"/>
            <a:ext cx="4425696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20" dirty="0">
                <a:solidFill>
                  <a:srgbClr val="18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 logistics and route coordination</a:t>
            </a:r>
            <a:endParaRPr lang="en-US" sz="1320" dirty="0"/>
          </a:p>
          <a:p>
            <a:r>
              <a:rPr lang="en-US" sz="1320" dirty="0">
                <a:solidFill>
                  <a:srgbClr val="18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Inventory, warehouse and cold-storage support</a:t>
            </a:r>
            <a:endParaRPr lang="en-US" sz="1320" dirty="0"/>
          </a:p>
          <a:p>
            <a:r>
              <a:rPr lang="en-US" sz="1320" dirty="0">
                <a:solidFill>
                  <a:srgbClr val="18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orders, invoices and payments</a:t>
            </a:r>
            <a:endParaRPr lang="en-US" sz="1320" dirty="0"/>
          </a:p>
          <a:p>
            <a:r>
              <a:rPr lang="en-US" sz="1320" dirty="0">
                <a:solidFill>
                  <a:srgbClr val="18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tracking and fulfilment monitoring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6656832" y="1207008"/>
            <a:ext cx="4526280" cy="50749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/mnt/data/fh_brief_assets/produce_pane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1335024"/>
            <a:ext cx="4270248" cy="32004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03720" y="48006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F2A"/>
                </a:solidFill>
              </a:rPr>
              <a:t>Fresh produce is time-sensitive.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013448" y="528523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586C60"/>
                </a:solidFill>
              </a:rPr>
              <a:t>That is why accurate data about stock, orders, delivery and payment status matters.</a:t>
            </a:r>
            <a:endParaRPr lang="en-US" sz="12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h_brief_assets/field_bg_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71C">
              <a:alpha val="58000"/>
            </a:srgbClr>
          </a:solidFill>
          <a:ln w="12700">
            <a:solidFill>
              <a:srgbClr val="0A27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F2A"/>
          </a:solidFill>
          <a:ln w="12700">
            <a:solidFill>
              <a:srgbClr val="123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12191695" cy="50292"/>
          </a:xfrm>
          <a:prstGeom prst="rect">
            <a:avLst/>
          </a:prstGeom>
          <a:solidFill>
            <a:srgbClr val="E0B33F"/>
          </a:solidFill>
          <a:ln w="12700">
            <a:solidFill>
              <a:srgbClr val="E0B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8288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BUSINESS NEED  |  FROM TRANSACTIONS TO INSIGHT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53035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DCEBDD"/>
                </a:solidFill>
              </a:rPr>
              <a:t>Why the business requires historical, aggregated and multidimensional analysis</a:t>
            </a:r>
            <a:endParaRPr lang="en-US" sz="820" dirty="0"/>
          </a:p>
        </p:txBody>
      </p:sp>
      <p:sp>
        <p:nvSpPr>
          <p:cNvPr id="8" name="Shape 5"/>
          <p:cNvSpPr/>
          <p:nvPr/>
        </p:nvSpPr>
        <p:spPr>
          <a:xfrm>
            <a:off x="685800" y="1234440"/>
            <a:ext cx="5303520" cy="5074920"/>
          </a:xfrm>
          <a:prstGeom prst="roundRect">
            <a:avLst>
              <a:gd name="adj" fmla="val 2703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20" y="150876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</a:rPr>
              <a:t>WHY REPORTING IS NEEDED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960120" y="1746504"/>
            <a:ext cx="2514600" cy="50292"/>
          </a:xfrm>
          <a:prstGeom prst="rect">
            <a:avLst/>
          </a:prstGeom>
          <a:solidFill>
            <a:srgbClr val="E0B33F"/>
          </a:solidFill>
          <a:ln w="12700">
            <a:solidFill>
              <a:srgbClr val="E0B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60120" y="1901952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database records activity; management needs meaning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87552" y="2743200"/>
            <a:ext cx="4498848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8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operational system records individual events: one order, one payment, one delivery, one product movement. Management, however, needs a summarised view across many transactions and across time.</a:t>
            </a:r>
            <a:endParaRPr lang="en-US" sz="1480" dirty="0"/>
          </a:p>
        </p:txBody>
      </p:sp>
      <p:sp>
        <p:nvSpPr>
          <p:cNvPr id="13" name="Text 10"/>
          <p:cNvSpPr/>
          <p:nvPr/>
        </p:nvSpPr>
        <p:spPr>
          <a:xfrm>
            <a:off x="1078992" y="4023360"/>
            <a:ext cx="4352544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60" dirty="0">
                <a:solidFill>
                  <a:srgbClr val="18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sales by year, quarter and month</a:t>
            </a:r>
            <a:endParaRPr lang="en-US" sz="1260" dirty="0"/>
          </a:p>
          <a:p>
            <a:r>
              <a:rPr lang="en-US" sz="1260" dirty="0">
                <a:solidFill>
                  <a:srgbClr val="18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products with highest sales value and volume</a:t>
            </a:r>
            <a:endParaRPr lang="en-US" sz="1260" dirty="0"/>
          </a:p>
          <a:p>
            <a:r>
              <a:rPr lang="en-US" sz="1260" dirty="0">
                <a:solidFill>
                  <a:srgbClr val="18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which customer groups contribute most</a:t>
            </a:r>
            <a:endParaRPr lang="en-US" sz="1260" dirty="0"/>
          </a:p>
          <a:p>
            <a:r>
              <a:rPr lang="en-US" sz="1260" dirty="0">
                <a:solidFill>
                  <a:srgbClr val="18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 route performance and delivery areas</a:t>
            </a:r>
            <a:endParaRPr lang="en-US" sz="1260" dirty="0"/>
          </a:p>
          <a:p>
            <a:r>
              <a:rPr lang="en-US" sz="1260" dirty="0">
                <a:solidFill>
                  <a:srgbClr val="18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paid, partially paid and open business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6446520" y="1444752"/>
            <a:ext cx="4754880" cy="1207008"/>
          </a:xfrm>
          <a:prstGeom prst="roundRect">
            <a:avLst>
              <a:gd name="adj" fmla="val 11364"/>
            </a:avLst>
          </a:prstGeom>
          <a:solidFill>
            <a:srgbClr val="123F2A">
              <a:alpha val="93000"/>
            </a:srgbClr>
          </a:solidFill>
          <a:ln w="12700">
            <a:solidFill>
              <a:srgbClr val="123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48272" y="17373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757416" y="2121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5E4"/>
                </a:solidFill>
              </a:rPr>
              <a:t>FreshHarvest needs to turn operational data into reliable management information.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46520" y="3035808"/>
            <a:ext cx="4754880" cy="1207008"/>
          </a:xfrm>
          <a:prstGeom prst="roundRect">
            <a:avLst>
              <a:gd name="adj" fmla="val 11364"/>
            </a:avLst>
          </a:prstGeom>
          <a:solidFill>
            <a:srgbClr val="E0B33F">
              <a:alpha val="95000"/>
            </a:srgbClr>
          </a:solidFill>
          <a:ln w="12700">
            <a:solidFill>
              <a:srgbClr val="E0B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748272" y="33192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D20"/>
                </a:solidFill>
              </a:rPr>
              <a:t>Business value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757416" y="3703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D2D20"/>
                </a:solidFill>
              </a:rPr>
              <a:t>Better planning, better route decisions, stronger stock control and better payment follow-up.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46520" y="4626864"/>
            <a:ext cx="4754880" cy="1207008"/>
          </a:xfrm>
          <a:prstGeom prst="roundRect">
            <a:avLst>
              <a:gd name="adj" fmla="val 11364"/>
            </a:avLst>
          </a:prstGeom>
          <a:solidFill>
            <a:srgbClr val="23A6A6">
              <a:alpha val="92000"/>
            </a:srgbClr>
          </a:solidFill>
          <a:ln w="12700">
            <a:solidFill>
              <a:srgbClr val="23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748272" y="4910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Our focus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757416" y="5294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5E4"/>
                </a:solidFill>
              </a:rPr>
              <a:t>Use SQL and Power BI to answer the assignment’s five management questions clearly.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1"/>
          </a:solidFill>
          <a:ln w="12700">
            <a:solidFill>
              <a:srgbClr val="F5FA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F2A"/>
          </a:solidFill>
          <a:ln w="12700">
            <a:solidFill>
              <a:srgbClr val="123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12191695" cy="50292"/>
          </a:xfrm>
          <a:prstGeom prst="rect">
            <a:avLst/>
          </a:prstGeom>
          <a:solidFill>
            <a:srgbClr val="E0B33F"/>
          </a:solidFill>
          <a:ln w="12700">
            <a:solidFill>
              <a:srgbClr val="E0B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WE BUILT  |  SQL AND DATA WAREHOUSE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DCEBDD"/>
                </a:solidFill>
              </a:rPr>
              <a:t>How the project prepares data before Power BI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685800" y="111556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</a:rPr>
              <a:t>DATA FOUNDATION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2057400" cy="50292"/>
          </a:xfrm>
          <a:prstGeom prst="rect">
            <a:avLst/>
          </a:prstGeom>
          <a:solidFill>
            <a:srgbClr val="E0B33F"/>
          </a:solidFill>
          <a:ln w="12700">
            <a:solidFill>
              <a:srgbClr val="E0B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481328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gives the dashboard a trusted data source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13232" y="2258568"/>
            <a:ext cx="544068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8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used the operational SQL database as the source, then loaded historical data into a business intelligence structure. The final warehouse supports analysis across 2025 and 2026.</a:t>
            </a:r>
            <a:endParaRPr lang="en-US" sz="1480" dirty="0"/>
          </a:p>
        </p:txBody>
      </p:sp>
      <p:sp>
        <p:nvSpPr>
          <p:cNvPr id="11" name="Shape 9"/>
          <p:cNvSpPr/>
          <p:nvPr/>
        </p:nvSpPr>
        <p:spPr>
          <a:xfrm>
            <a:off x="713232" y="3657600"/>
            <a:ext cx="2331720" cy="1133856"/>
          </a:xfrm>
          <a:prstGeom prst="roundRect">
            <a:avLst>
              <a:gd name="adj" fmla="val 1209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13232" y="3657600"/>
            <a:ext cx="82296" cy="11338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77824" y="380390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53312" y="3794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3F2A"/>
                </a:solidFill>
              </a:rPr>
              <a:t>Operational SQL database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53312" y="415137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86C60"/>
                </a:solidFill>
              </a:rPr>
              <a:t>Captures orders, products, customers, stock, delivery and payments.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10128" y="3657600"/>
            <a:ext cx="2331720" cy="1133856"/>
          </a:xfrm>
          <a:prstGeom prst="roundRect">
            <a:avLst>
              <a:gd name="adj" fmla="val 1209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310128" y="3657600"/>
            <a:ext cx="82296" cy="1133856"/>
          </a:xfrm>
          <a:prstGeom prst="rect">
            <a:avLst/>
          </a:prstGeom>
          <a:solidFill>
            <a:srgbClr val="E0B33F"/>
          </a:solidFill>
          <a:ln w="12700">
            <a:solidFill>
              <a:srgbClr val="E0B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0" y="380390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0B33F"/>
                </a:solidFill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50208" y="3794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3F2A"/>
                </a:solidFill>
              </a:rPr>
              <a:t>ETL process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50208" y="415137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86C60"/>
                </a:solidFill>
              </a:rPr>
              <a:t>Extracts and transforms the operational records into reporting data.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07024" y="3657600"/>
            <a:ext cx="2331720" cy="1133856"/>
          </a:xfrm>
          <a:prstGeom prst="roundRect">
            <a:avLst>
              <a:gd name="adj" fmla="val 1209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07024" y="3657600"/>
            <a:ext cx="82296" cy="1133856"/>
          </a:xfrm>
          <a:prstGeom prst="rect">
            <a:avLst/>
          </a:prstGeom>
          <a:solidFill>
            <a:srgbClr val="23A6A6"/>
          </a:solidFill>
          <a:ln w="12700">
            <a:solidFill>
              <a:srgbClr val="23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71616" y="380390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3A6A6"/>
                </a:solidFill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47104" y="3794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3F2A"/>
                </a:solidFill>
              </a:rPr>
              <a:t>FreshHarvest_DW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47104" y="415137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86C60"/>
                </a:solidFill>
              </a:rPr>
              <a:t>Stores FactSales and dimension tables for analysis.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503920" y="3657600"/>
            <a:ext cx="2331720" cy="1133856"/>
          </a:xfrm>
          <a:prstGeom prst="roundRect">
            <a:avLst>
              <a:gd name="adj" fmla="val 1209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03920" y="3657600"/>
            <a:ext cx="82296" cy="1133856"/>
          </a:xfrm>
          <a:prstGeom prst="rect">
            <a:avLst/>
          </a:prstGeom>
          <a:solidFill>
            <a:srgbClr val="2F68D8"/>
          </a:solidFill>
          <a:ln w="12700">
            <a:solidFill>
              <a:srgbClr val="2F6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68512" y="380390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F68D8"/>
                </a:solidFill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0" y="3794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3F2A"/>
                </a:solidFill>
              </a:rPr>
              <a:t>Power BI model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44000" y="415137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86C60"/>
                </a:solidFill>
              </a:rPr>
              <a:t>Uses DAX measures, slicers and visuals for management questions.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3232" y="5596128"/>
            <a:ext cx="10149840" cy="603504"/>
          </a:xfrm>
          <a:prstGeom prst="roundRect">
            <a:avLst>
              <a:gd name="adj" fmla="val 22727"/>
            </a:avLst>
          </a:prstGeom>
          <a:solidFill>
            <a:srgbClr val="DDEFD7"/>
          </a:solidFill>
          <a:ln w="12700">
            <a:solidFill>
              <a:srgbClr val="DDEFD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50976" y="578815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23F2A"/>
                </a:solidFill>
              </a:rPr>
              <a:t>Main star schema: FactSales + DimDate + DimProduct + DimCustomer + DimRoute + DimStatus</a:t>
            </a:r>
            <a:endParaRPr lang="en-US" sz="12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h_brief_assets/dashboard_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2">
              <a:alpha val="91000"/>
            </a:srgbClr>
          </a:solidFill>
          <a:ln w="12700">
            <a:solidFill>
              <a:srgbClr val="F6FA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F2A"/>
          </a:solidFill>
          <a:ln w="12700">
            <a:solidFill>
              <a:srgbClr val="123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12191695" cy="50292"/>
          </a:xfrm>
          <a:prstGeom prst="rect">
            <a:avLst/>
          </a:prstGeom>
          <a:solidFill>
            <a:srgbClr val="E0B33F"/>
          </a:solidFill>
          <a:ln w="12700">
            <a:solidFill>
              <a:srgbClr val="E0B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8288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POWER BI OUTPUT  |  WHAT WE WILL PRESENT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530352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DCEBDD"/>
                </a:solidFill>
              </a:rPr>
              <a:t>The final dashboard is the practical result of the SQL and warehouse work</a:t>
            </a:r>
            <a:endParaRPr lang="en-US" sz="820" dirty="0"/>
          </a:p>
        </p:txBody>
      </p:sp>
      <p:sp>
        <p:nvSpPr>
          <p:cNvPr id="8" name="Shape 5"/>
          <p:cNvSpPr/>
          <p:nvPr/>
        </p:nvSpPr>
        <p:spPr>
          <a:xfrm>
            <a:off x="685800" y="1207008"/>
            <a:ext cx="5120640" cy="5102352"/>
          </a:xfrm>
          <a:prstGeom prst="roundRect">
            <a:avLst>
              <a:gd name="adj" fmla="val 2688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20" y="14813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</a:rPr>
              <a:t>PRESENTATION FOCUS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960120" y="1719072"/>
            <a:ext cx="2286000" cy="50292"/>
          </a:xfrm>
          <a:prstGeom prst="rect">
            <a:avLst/>
          </a:prstGeom>
          <a:solidFill>
            <a:srgbClr val="E0B33F"/>
          </a:solidFill>
          <a:ln w="12700">
            <a:solidFill>
              <a:srgbClr val="E0B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60120" y="18288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business context to live dashboard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987552" y="2596896"/>
            <a:ext cx="43891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8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presentation will first explain the business and data problem, then show how SQL and Power BI work together to support management decisions.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1078992" y="3703320"/>
            <a:ext cx="4114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60" dirty="0">
                <a:solidFill>
                  <a:srgbClr val="18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FreshHarvest business overview</a:t>
            </a:r>
            <a:endParaRPr lang="en-US" sz="1360" dirty="0"/>
          </a:p>
          <a:p>
            <a:r>
              <a:rPr lang="en-US" sz="1360" dirty="0">
                <a:solidFill>
                  <a:srgbClr val="18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broader analysis is needed</a:t>
            </a:r>
            <a:endParaRPr lang="en-US" sz="1360" dirty="0"/>
          </a:p>
          <a:p>
            <a:r>
              <a:rPr lang="en-US" sz="1360" dirty="0">
                <a:solidFill>
                  <a:srgbClr val="18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database and data warehouse design</a:t>
            </a:r>
            <a:endParaRPr lang="en-US" sz="1360" dirty="0"/>
          </a:p>
          <a:p>
            <a:r>
              <a:rPr lang="en-US" sz="1360" dirty="0">
                <a:solidFill>
                  <a:srgbClr val="18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dashboard and key management insights</a:t>
            </a:r>
            <a:endParaRPr lang="en-US" sz="1360" dirty="0"/>
          </a:p>
        </p:txBody>
      </p:sp>
      <p:sp>
        <p:nvSpPr>
          <p:cNvPr id="14" name="Shape 11"/>
          <p:cNvSpPr/>
          <p:nvPr/>
        </p:nvSpPr>
        <p:spPr>
          <a:xfrm>
            <a:off x="6199632" y="1207008"/>
            <a:ext cx="5303520" cy="5016510"/>
          </a:xfrm>
          <a:prstGeom prst="roundRect">
            <a:avLst>
              <a:gd name="adj" fmla="val 2688"/>
            </a:avLst>
          </a:prstGeom>
          <a:solidFill>
            <a:srgbClr val="123F2A">
              <a:alpha val="95000"/>
            </a:srgbClr>
          </a:solidFill>
          <a:ln w="12700">
            <a:solidFill>
              <a:srgbClr val="123F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37960" y="16093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dashboard helps management answer: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29400" y="2148840"/>
            <a:ext cx="4370832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20" dirty="0">
                <a:solidFill>
                  <a:srgbClr val="EAF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sales and quantity change by year, quarter and month</a:t>
            </a:r>
            <a:endParaRPr lang="en-US" sz="1320" dirty="0"/>
          </a:p>
          <a:p>
            <a:r>
              <a:rPr lang="en-US" sz="1320" dirty="0">
                <a:solidFill>
                  <a:srgbClr val="EAF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products generate highest value and volume</a:t>
            </a:r>
            <a:endParaRPr lang="en-US" sz="1320" dirty="0"/>
          </a:p>
          <a:p>
            <a:r>
              <a:rPr lang="en-US" sz="1320" dirty="0">
                <a:solidFill>
                  <a:srgbClr val="EAF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customer groups contribute most revenue</a:t>
            </a:r>
            <a:endParaRPr lang="en-US" sz="1320" dirty="0"/>
          </a:p>
          <a:p>
            <a:r>
              <a:rPr lang="en-US" sz="1320" dirty="0">
                <a:solidFill>
                  <a:srgbClr val="EAF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delivery routes and areas perform best</a:t>
            </a:r>
            <a:endParaRPr lang="en-US" sz="1320" dirty="0"/>
          </a:p>
          <a:p>
            <a:r>
              <a:rPr lang="en-US" sz="1320" dirty="0">
                <a:solidFill>
                  <a:srgbClr val="EAF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order and payment status affect the business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6565392" y="53218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E0B33F"/>
                </a:solidFill>
              </a:rPr>
              <a:t>After these opening slides, we will move into the live Power BI report.</a:t>
            </a:r>
            <a:endParaRPr lang="en-US" sz="15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557</Words>
  <Application>Microsoft Office PowerPoint</Application>
  <PresentationFormat>Widescreen</PresentationFormat>
  <Paragraphs>72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FreshHarvest Logistics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FreshHarvest Logistics – Opening Brief</dc:title>
  <dc:subject>FreshHarvest Logistics BI Project Brief</dc:subject>
  <dc:creator>FreshHarvest Logistics Group</dc:creator>
  <cp:lastModifiedBy>ofentse setshedi</cp:lastModifiedBy>
  <cp:revision>3</cp:revision>
  <dcterms:created xsi:type="dcterms:W3CDTF">2026-10-08T20:42:04Z</dcterms:created>
  <dcterms:modified xsi:type="dcterms:W3CDTF">2026-10-12T18:53:51Z</dcterms:modified>
</cp:coreProperties>
</file>